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86f0efb93f4e84" /><Relationship Type="http://schemas.openxmlformats.org/officeDocument/2006/relationships/extended-properties" Target="/docProps/app.xml" Id="R70cb103766bc4681" /><Relationship Type="http://schemas.openxmlformats.org/officeDocument/2006/relationships/officeDocument" Target="/ppt/presentation.xml" Id="Rb419e023d61d439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dfc59272171495e"/>
  </p:sldMasterIdLst>
  <p:notesMasterIdLst>
    <p:notesMasterId xmlns:r="http://schemas.openxmlformats.org/officeDocument/2006/relationships" r:id="R2e38b7f587924142"/>
  </p:notesMasterIdLst>
  <p:sldIdLst>
    <p:sldId xmlns:r="http://schemas.openxmlformats.org/officeDocument/2006/relationships" id="256" r:id="R7bffb38031eb4f20"/>
    <p:sldId xmlns:r="http://schemas.openxmlformats.org/officeDocument/2006/relationships" id="257" r:id="Red1850bc558b40d3"/>
    <p:sldId xmlns:r="http://schemas.openxmlformats.org/officeDocument/2006/relationships" id="258" r:id="R5836f2cd1125419e"/>
    <p:sldId xmlns:r="http://schemas.openxmlformats.org/officeDocument/2006/relationships" id="259" r:id="Re68c4b0923014236"/>
    <p:sldId xmlns:r="http://schemas.openxmlformats.org/officeDocument/2006/relationships" id="260" r:id="R9a6c054c0d5643c5"/>
    <p:sldId xmlns:r="http://schemas.openxmlformats.org/officeDocument/2006/relationships" id="261" r:id="R1018cbfbd6314272"/>
  </p:sldIdLst>
  <p:sldSz cx="18288000" cy="10287000"/>
  <p:notesSz cx="6858000" cy="9144000"/>
  <p:embeddedFontLst>
    <p:embeddedFont>
      <p:font typeface="Aristotelica Pro"/>
      <p:regular xmlns:r="http://schemas.openxmlformats.org/officeDocument/2006/relationships" r:id="R66cda32d3e5241d8"/>
    </p:embeddedFont>
    <p:embeddedFont>
      <p:font typeface="Aristotelica Pro Bold"/>
      <p:regular xmlns:r="http://schemas.openxmlformats.org/officeDocument/2006/relationships" r:id="Rdf3a4ef264504a4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7a3400711d24598" /><Relationship Type="http://schemas.openxmlformats.org/officeDocument/2006/relationships/slideMaster" Target="/ppt/slideMasters/slideMaster1.xml" Id="R8dfc59272171495e" /><Relationship Type="http://schemas.openxmlformats.org/officeDocument/2006/relationships/notesMaster" Target="/ppt/notesMasters/notesMaster1.xml" Id="R2e38b7f587924142" /><Relationship Type="http://schemas.openxmlformats.org/officeDocument/2006/relationships/presProps" Target="/ppt/presProps.xml" Id="R69e0c43fcb4a4ffb" /><Relationship Type="http://schemas.openxmlformats.org/officeDocument/2006/relationships/viewProps" Target="/ppt/viewProps.xml" Id="Rce0a57df0f074e74" /><Relationship Type="http://schemas.openxmlformats.org/officeDocument/2006/relationships/tableStyles" Target="/ppt/tableStyles.xml" Id="Re0e92707983e4032" /><Relationship Type="http://schemas.openxmlformats.org/officeDocument/2006/relationships/font" Target="/ppt/fonts/font.dat" Id="R66cda32d3e5241d8" /><Relationship Type="http://schemas.openxmlformats.org/officeDocument/2006/relationships/font" Target="/ppt/fonts/font2.dat" Id="Rdf3a4ef264504a45" /><Relationship Type="http://schemas.openxmlformats.org/officeDocument/2006/relationships/slide" Target="/ppt/slides/slide1.xml" Id="R7bffb38031eb4f20" /><Relationship Type="http://schemas.openxmlformats.org/officeDocument/2006/relationships/slide" Target="/ppt/slides/slide2.xml" Id="Red1850bc558b40d3" /><Relationship Type="http://schemas.openxmlformats.org/officeDocument/2006/relationships/slide" Target="/ppt/slides/slide3.xml" Id="R5836f2cd1125419e" /><Relationship Type="http://schemas.openxmlformats.org/officeDocument/2006/relationships/slide" Target="/ppt/slides/slide4.xml" Id="Re68c4b0923014236" /><Relationship Type="http://schemas.openxmlformats.org/officeDocument/2006/relationships/slide" Target="/ppt/slides/slide5.xml" Id="R9a6c054c0d5643c5" /><Relationship Type="http://schemas.openxmlformats.org/officeDocument/2006/relationships/slide" Target="/ppt/slides/slide6.xml" Id="R1018cbfbd63142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9de91d402b44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ffc0e3224249f7" /><Relationship Type="http://schemas.openxmlformats.org/officeDocument/2006/relationships/notesMaster" Target="/ppt/notesMasters/notesMaster1.xml" Id="R3fe4211cc92b47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648a62de844acc" /><Relationship Type="http://schemas.openxmlformats.org/officeDocument/2006/relationships/notesMaster" Target="/ppt/notesMasters/notesMaster1.xml" Id="Rbafba410afea46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ab4f6a34d14e18" /><Relationship Type="http://schemas.openxmlformats.org/officeDocument/2006/relationships/notesMaster" Target="/ppt/notesMasters/notesMaster1.xml" Id="R7211e8f1f71d44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4d6b3299e1422b" /><Relationship Type="http://schemas.openxmlformats.org/officeDocument/2006/relationships/notesMaster" Target="/ppt/notesMasters/notesMaster1.xml" Id="Rf7a34a9e8c984d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5640057a034cb4" /><Relationship Type="http://schemas.openxmlformats.org/officeDocument/2006/relationships/notesMaster" Target="/ppt/notesMasters/notesMaster1.xml" Id="R9e134caff6cb43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23089a0d8f4a9f" /><Relationship Type="http://schemas.openxmlformats.org/officeDocument/2006/relationships/notesMaster" Target="/ppt/notesMasters/notesMaster1.xml" Id="Re928c81e1fa044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and team details were supplied by the user. Healthcare and accessibility describes the project focus, not a confirmed official track. The prototype runs locally. Source: repository README.md and web/src/App.tsx.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comes from PRD.md. These are intended users and use cases, not results from a clinical study. Theme alignment: accessible communication through software, subject to the official theme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features checked against web/src/components/NeedsBoard.tsx, GazePhraseBoard.tsx, and AimGame.tsx. Request labels play local messages and do not dispatch hospital staff. This prototype supplements existing care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Patient Board request cards captured from https://gazebridge.vercel.app/ in touch mode. The photo shows the visible section containing Call a nurse, Water, Bathroom, Help me move, Medicine, and I am in pain, with left/right navigation controls. EyeRemote requires calibration for gaze use. Request labels play messages; they do not dispatch hospital staff. Figma: https://www.figma.com/design/94HjT5KJCZInlVge6frj3E/VisionLoop-Website-UI . The Figma file includes editable calibration layers and a Patient Board screenshot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1. Webcam frames enter useEyeTracker.ts. 2. MediaPipe yields landmarks. 3. eyeTracking.ts extracts and maps gaze using saved calibration. 4. OneEuro smoothing stabilizes position. 5. GazePhraseBoard.tsx turns zones and confirmation into phrase selection. 6. Speech synthesis speaks the final phrase. Sources: web/src/hooks/useEyeTracker.ts, web/src/lib/eyeTracking.ts, web/src/lib/oneEuro.ts, web/package.json. Runtime/model hosts: jsDelivr and Google storage. No API key is required. Repository: https://github.com/Team-Barbie/vinhack-26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Distinctive describes this implementation, not a claim of being first or superior to all existing products. Metrics are proposed evaluation criteria, not measured results. The root test suite covers synthetic standalone tracking/gameplay behavior, not clinical effectiveness. Future work requires user testing, device testing, and separate integration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90010f6cc04d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cdce6c8a964b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700f2df4304f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ce331aaff944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9d6a22bd4045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8c0d9eee84463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717068fcfef475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5956bfeb7ac405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176ec4c7b9d4fd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bc923e2f0234ef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e0ff5866b1b495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682040-16BF-405F-B9DE-7AEFB375979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2952B51-EAF8-4821-A89E-E4F559229B7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702555BD-1826-4544-9BA9-C55F99873B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9350FAFD-19AC-46D9-8F31-555AA7BB42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2D003AD-384E-45F1-A880-35C113CC13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672BC3-BA8E-4600-8D91-BBFBF0FA3D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A562EBC-6A70-4A26-B11C-DF096B05BD3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50C14E0-ECCC-4D49-B89C-2496764567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82101D5D-93E2-4F8A-A6E1-69939188F3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FB30766-6965-42BB-A2B7-99F3FA7549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FCAB62-4B53-4B43-A16B-1E916112EFE9}"/>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0B02BB2-B8AB-4E21-B0F6-00FA5EBDACC7}"/>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B0AFDA6-ECC8-4502-888B-4835C3CC5B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B4F945CF-A7DB-4279-AC27-46CE1419B3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5CD6E1C-4597-4F71-B772-2BF787825B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D3C032-5390-416B-A993-DA4B4366964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BC0D0A7-01BF-4F06-AA37-508949501771}"/>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88B36CA1-D62B-496E-AC14-1EDFD541525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B6678AE-735F-4849-AAC3-39BA512E974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6" name="Footer Placeholder 5">
            <a:extLst xmlns:a="http://schemas.openxmlformats.org/drawingml/2006/main">
              <a:ext uri="{FF2B5EF4-FFF2-40B4-BE49-F238E27FC236}">
                <a16:creationId xmlns:a16="http://schemas.microsoft.com/office/drawing/2014/main" id="{7483A5C0-5A4F-4711-991F-0FC00DBC5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CB11061-E83F-411E-AC35-3651013823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322AFA-489D-4776-886D-ACFE672EEF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480BF3C-9BCE-4AA5-9B2D-0B75A795C13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C436B7B-CBEA-4790-B1C7-6AC14A027108}"/>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2F87BE2-611A-49A1-9943-118CCB002DA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AE74687-4115-4CE6-8A63-1D9A43C7B11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783EA1C6-B936-404B-B745-6E8E06ACFA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8" name="Footer Placeholder 7">
            <a:extLst xmlns:a="http://schemas.openxmlformats.org/drawingml/2006/main">
              <a:ext uri="{FF2B5EF4-FFF2-40B4-BE49-F238E27FC236}">
                <a16:creationId xmlns:a16="http://schemas.microsoft.com/office/drawing/2014/main" id="{0D464F9A-B28B-458D-A58A-F83DFE9A98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A92E6E4-C995-43F4-9395-3BAC0D3E0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CCB00D-26F6-4148-BDAE-D39E03D956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C4F43B37-5239-402A-912A-A869878284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4" name="Footer Placeholder 3">
            <a:extLst xmlns:a="http://schemas.openxmlformats.org/drawingml/2006/main">
              <a:ext uri="{FF2B5EF4-FFF2-40B4-BE49-F238E27FC236}">
                <a16:creationId xmlns:a16="http://schemas.microsoft.com/office/drawing/2014/main" id="{B1FB9691-92AB-4FF2-BFC6-9560C2125A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02B1327-F9FD-492B-ABD1-20DB4E365E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EC21000-D144-4D45-B8AC-AC162D7570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3" name="Footer Placeholder 2">
            <a:extLst xmlns:a="http://schemas.openxmlformats.org/drawingml/2006/main">
              <a:ext uri="{FF2B5EF4-FFF2-40B4-BE49-F238E27FC236}">
                <a16:creationId xmlns:a16="http://schemas.microsoft.com/office/drawing/2014/main" id="{FE7B8BF2-4A10-4F3A-B97A-E41F3F3A59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0B50E8E-E46D-4362-91D3-25440F7537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B9D989-1EE7-48A4-8D99-C13DEBAB494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028210C-7D4B-4953-A3C7-ADB5F10D341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B0C76F2-472B-4879-95EF-FDEAE981D29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083B48C-E120-4636-9565-BBC1A26EA2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6" name="Footer Placeholder 5">
            <a:extLst xmlns:a="http://schemas.openxmlformats.org/drawingml/2006/main">
              <a:ext uri="{FF2B5EF4-FFF2-40B4-BE49-F238E27FC236}">
                <a16:creationId xmlns:a16="http://schemas.microsoft.com/office/drawing/2014/main" id="{800EED35-8920-4D0C-9A09-524DE9349E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AD28FA3-1628-494A-8CAB-BCC772DE14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E9C0BE-6811-4D85-90A0-2DBA0EA64E61}"/>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A1490682-1378-40C6-87E4-F23AB8E57E5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DEDD298-7E33-44D0-AB38-1934A41BBF2D}"/>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F423127-3734-4491-8AFC-AFBB5A6D9F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6" name="Footer Placeholder 5">
            <a:extLst xmlns:a="http://schemas.openxmlformats.org/drawingml/2006/main">
              <a:ext uri="{FF2B5EF4-FFF2-40B4-BE49-F238E27FC236}">
                <a16:creationId xmlns:a16="http://schemas.microsoft.com/office/drawing/2014/main" id="{2F762DC0-73C1-4CC1-8176-0946F4D8B5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0DF4B67-4739-4B65-B78B-34E01352C2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45FB0B-5E12-49AF-A257-D95719C9E59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3932D7E-CD74-4058-8BB6-6E38CEEEA2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1C5646E-B68D-45B1-8899-BDF0B31480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B06B58C2-3FC7-4B83-BDE4-46E4BDE99C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35BA0DC-B587-4154-9E74-DCE1262BF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BAFFE85-583D-4610-BA69-AB3B9C147C4A}"/>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554DAE6-D925-4CD1-B9CE-626FB589E4F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0523DBB-7B69-4040-8D6B-2C929B15A4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FEB12F68-16E8-4809-B674-27A8E6053D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B1F67F0-FAB1-4EFB-8A39-8CF6704A29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7e66632534429b" /><Relationship Type="http://schemas.openxmlformats.org/officeDocument/2006/relationships/slideLayout" Target="/ppt/slideLayouts/slideLayout1.xml" Id="Rc3e35135d07e4541" /><Relationship Type="http://schemas.openxmlformats.org/officeDocument/2006/relationships/slideLayout" Target="/ppt/slideLayouts/slideLayout2.xml" Id="Rbad7345018c34100" /><Relationship Type="http://schemas.openxmlformats.org/officeDocument/2006/relationships/slideLayout" Target="/ppt/slideLayouts/slideLayout3.xml" Id="Re972ae84125e421d" /><Relationship Type="http://schemas.openxmlformats.org/officeDocument/2006/relationships/slideLayout" Target="/ppt/slideLayouts/slideLayout4.xml" Id="Rd71150b2127f487d" /><Relationship Type="http://schemas.openxmlformats.org/officeDocument/2006/relationships/slideLayout" Target="/ppt/slideLayouts/slideLayout5.xml" Id="Rd8de3bc7d4464548" /><Relationship Type="http://schemas.openxmlformats.org/officeDocument/2006/relationships/slideLayout" Target="/ppt/slideLayouts/slideLayout6.xml" Id="Rc7a89cc1a9414df9" /><Relationship Type="http://schemas.openxmlformats.org/officeDocument/2006/relationships/slideLayout" Target="/ppt/slideLayouts/slideLayout7.xml" Id="Rb6258f6616234702" /><Relationship Type="http://schemas.openxmlformats.org/officeDocument/2006/relationships/slideLayout" Target="/ppt/slideLayouts/slideLayout8.xml" Id="Rf38672f3163f4518" /><Relationship Type="http://schemas.openxmlformats.org/officeDocument/2006/relationships/slideLayout" Target="/ppt/slideLayouts/slideLayout9.xml" Id="R68fd582c845d4d14" /><Relationship Type="http://schemas.openxmlformats.org/officeDocument/2006/relationships/slideLayout" Target="/ppt/slideLayouts/slideLayout10.xml" Id="R5a4256f6f14248b0" /><Relationship Type="http://schemas.openxmlformats.org/officeDocument/2006/relationships/slideLayout" Target="/ppt/slideLayouts/slideLayout11.xml" Id="R9b133ce1e64a407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5D00EB8-50B5-4B4D-830C-17B9DBE7843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4D6AD4D-F2E3-4FD3-841D-4C84D8ADCDB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BB4D705-AEA9-48A3-9393-E48D9AEDF98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553C9A01-55E2-41B9-A688-41FA73AE4D1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66E0B90-A55C-45F7-AE85-0F236090F982}"/>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e35135d07e4541"/>
    <p:sldLayoutId xmlns:r="http://schemas.openxmlformats.org/officeDocument/2006/relationships" id="2147483650" r:id="Rbad7345018c34100"/>
    <p:sldLayoutId xmlns:r="http://schemas.openxmlformats.org/officeDocument/2006/relationships" id="2147483651" r:id="Re972ae84125e421d"/>
    <p:sldLayoutId xmlns:r="http://schemas.openxmlformats.org/officeDocument/2006/relationships" id="2147483652" r:id="Rd71150b2127f487d"/>
    <p:sldLayoutId xmlns:r="http://schemas.openxmlformats.org/officeDocument/2006/relationships" id="2147483653" r:id="Rd8de3bc7d4464548"/>
    <p:sldLayoutId xmlns:r="http://schemas.openxmlformats.org/officeDocument/2006/relationships" id="2147483654" r:id="Rc7a89cc1a9414df9"/>
    <p:sldLayoutId xmlns:r="http://schemas.openxmlformats.org/officeDocument/2006/relationships" id="2147483655" r:id="Rb6258f6616234702"/>
    <p:sldLayoutId xmlns:r="http://schemas.openxmlformats.org/officeDocument/2006/relationships" id="2147483656" r:id="Rf38672f3163f4518"/>
    <p:sldLayoutId xmlns:r="http://schemas.openxmlformats.org/officeDocument/2006/relationships" id="2147483657" r:id="R68fd582c845d4d14"/>
    <p:sldLayoutId xmlns:r="http://schemas.openxmlformats.org/officeDocument/2006/relationships" id="2147483658" r:id="R5a4256f6f14248b0"/>
    <p:sldLayoutId xmlns:r="http://schemas.openxmlformats.org/officeDocument/2006/relationships" id="2147483659" r:id="R9b133ce1e64a4070"/>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cf152862a79402f" /><Relationship Type="http://schemas.openxmlformats.org/officeDocument/2006/relationships/image" Target="/ppt/media/image.png" Id="R8c7af06971c947ce" /><Relationship Type="http://schemas.openxmlformats.org/officeDocument/2006/relationships/image" Target="/ppt/media/image.svg" Id="R7fb9d518c4d14a47" /><Relationship Type="http://schemas.openxmlformats.org/officeDocument/2006/relationships/image" Target="/ppt/media/image2.png" Id="R3c02a867b09947ea" /><Relationship Type="http://schemas.openxmlformats.org/officeDocument/2006/relationships/image" Target="/ppt/media/image2.svg" Id="Red1dff3a7c184d54" /><Relationship Type="http://schemas.openxmlformats.org/officeDocument/2006/relationships/image" Target="/ppt/media/image3.png" Id="Rca584d0b91904923" /><Relationship Type="http://schemas.openxmlformats.org/officeDocument/2006/relationships/image" Target="/ppt/media/image4.png" Id="R15f0b556665e4c72" /><Relationship Type="http://schemas.openxmlformats.org/officeDocument/2006/relationships/image" Target="/ppt/media/image.jpeg" Id="R14e97b12ea54481e" /><Relationship Type="http://schemas.openxmlformats.org/officeDocument/2006/relationships/notesSlide" Target="/ppt/notesSlides/notesSlide1.xml" Id="Rbc6da0c88def4b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e98e438460d464b" /><Relationship Type="http://schemas.openxmlformats.org/officeDocument/2006/relationships/image" Target="/ppt/media/image.png" Id="Ra6625eea88e04285" /><Relationship Type="http://schemas.openxmlformats.org/officeDocument/2006/relationships/image" Target="/ppt/media/image.svg" Id="R63cd039d051243f2" /><Relationship Type="http://schemas.openxmlformats.org/officeDocument/2006/relationships/image" Target="/ppt/media/image2.png" Id="R4aea7a03552e4eb4" /><Relationship Type="http://schemas.openxmlformats.org/officeDocument/2006/relationships/image" Target="/ppt/media/image2.svg" Id="Rff393597211b48c4" /><Relationship Type="http://schemas.openxmlformats.org/officeDocument/2006/relationships/image" Target="/ppt/media/image3.png" Id="R1d981678bba141fa" /><Relationship Type="http://schemas.openxmlformats.org/officeDocument/2006/relationships/image" Target="/ppt/media/image4.png" Id="R74dd353fcc6e4820" /><Relationship Type="http://schemas.openxmlformats.org/officeDocument/2006/relationships/image" Target="/ppt/media/image.jpeg" Id="Rdfbf3497eec44d75" /><Relationship Type="http://schemas.openxmlformats.org/officeDocument/2006/relationships/notesSlide" Target="/ppt/notesSlides/notesSlide2.xml" Id="R73256208b2a949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5c87bab0c164c68" /><Relationship Type="http://schemas.openxmlformats.org/officeDocument/2006/relationships/image" Target="/ppt/media/image.png" Id="Re1abb02c5559478b" /><Relationship Type="http://schemas.openxmlformats.org/officeDocument/2006/relationships/image" Target="/ppt/media/image.svg" Id="Ra6e788a70d2a409d" /><Relationship Type="http://schemas.openxmlformats.org/officeDocument/2006/relationships/image" Target="/ppt/media/image2.png" Id="R2828b49df3d04659" /><Relationship Type="http://schemas.openxmlformats.org/officeDocument/2006/relationships/image" Target="/ppt/media/image2.svg" Id="R72bbd92243b24a5a" /><Relationship Type="http://schemas.openxmlformats.org/officeDocument/2006/relationships/image" Target="/ppt/media/image3.png" Id="Rdffb5b20b983450d" /><Relationship Type="http://schemas.openxmlformats.org/officeDocument/2006/relationships/image" Target="/ppt/media/image4.png" Id="R1478a30fbe234e9d" /><Relationship Type="http://schemas.openxmlformats.org/officeDocument/2006/relationships/image" Target="/ppt/media/image.jpeg" Id="Re1566c6ac858438f" /><Relationship Type="http://schemas.openxmlformats.org/officeDocument/2006/relationships/notesSlide" Target="/ppt/notesSlides/notesSlide3.xml" Id="R1174ce844f0a43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bc61d11ed7e49c7" /><Relationship Type="http://schemas.openxmlformats.org/officeDocument/2006/relationships/image" Target="/ppt/media/image.png" Id="Rff529f33a526440b" /><Relationship Type="http://schemas.openxmlformats.org/officeDocument/2006/relationships/image" Target="/ppt/media/image.svg" Id="R81dd27e4361046b5" /><Relationship Type="http://schemas.openxmlformats.org/officeDocument/2006/relationships/image" Target="/ppt/media/image2.png" Id="Rd5e882a81ca04b1e" /><Relationship Type="http://schemas.openxmlformats.org/officeDocument/2006/relationships/image" Target="/ppt/media/image2.svg" Id="R0ee9108675ae4464" /><Relationship Type="http://schemas.openxmlformats.org/officeDocument/2006/relationships/image" Target="/ppt/media/image3.png" Id="R26f32983e9b145f6" /><Relationship Type="http://schemas.openxmlformats.org/officeDocument/2006/relationships/image" Target="/ppt/media/image4.png" Id="Reae2c53f6b534ce5" /><Relationship Type="http://schemas.openxmlformats.org/officeDocument/2006/relationships/image" Target="/ppt/media/image.jpeg" Id="Rb46f9e1b7b8b4c32" /><Relationship Type="http://schemas.openxmlformats.org/officeDocument/2006/relationships/hyperlink" Target="https://www.figma.com/design/94HjT5KJCZInlVge6frj3E/VisionLoop-Website-UI" TargetMode="External" Id="R7b9ea79cc81c42d4" /><Relationship Type="http://schemas.openxmlformats.org/officeDocument/2006/relationships/image" Target="/ppt/media/image5.png" Id="Rb4c5722a79274e77" /><Relationship Type="http://schemas.openxmlformats.org/officeDocument/2006/relationships/notesSlide" Target="/ppt/notesSlides/notesSlide4.xml" Id="Ra6e31f7850ea47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5e6188fd9624f2f" /><Relationship Type="http://schemas.openxmlformats.org/officeDocument/2006/relationships/image" Target="/ppt/media/image.png" Id="Rfebf706a003c4e3d" /><Relationship Type="http://schemas.openxmlformats.org/officeDocument/2006/relationships/image" Target="/ppt/media/image.svg" Id="R39b7fdc2f84443b1" /><Relationship Type="http://schemas.openxmlformats.org/officeDocument/2006/relationships/image" Target="/ppt/media/image2.png" Id="Rd128194ad7e1423f" /><Relationship Type="http://schemas.openxmlformats.org/officeDocument/2006/relationships/image" Target="/ppt/media/image2.svg" Id="R641b64f272d54a9f" /><Relationship Type="http://schemas.openxmlformats.org/officeDocument/2006/relationships/image" Target="/ppt/media/image3.png" Id="Rcd106b529a4c4394" /><Relationship Type="http://schemas.openxmlformats.org/officeDocument/2006/relationships/image" Target="/ppt/media/image4.png" Id="R22d06805fa094cbd" /><Relationship Type="http://schemas.openxmlformats.org/officeDocument/2006/relationships/image" Target="/ppt/media/image.jpeg" Id="Rbe3f420bc70d454f" /><Relationship Type="http://schemas.openxmlformats.org/officeDocument/2006/relationships/notesSlide" Target="/ppt/notesSlides/notesSlide5.xml" Id="R9f7231c9dc8f4a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8f5a9196503451a" /><Relationship Type="http://schemas.openxmlformats.org/officeDocument/2006/relationships/image" Target="/ppt/media/image.png" Id="R76e29adafb6d4af4" /><Relationship Type="http://schemas.openxmlformats.org/officeDocument/2006/relationships/image" Target="/ppt/media/image.svg" Id="Rbb49b71492964f48" /><Relationship Type="http://schemas.openxmlformats.org/officeDocument/2006/relationships/image" Target="/ppt/media/image2.png" Id="Rbaf3ee6eda284a20" /><Relationship Type="http://schemas.openxmlformats.org/officeDocument/2006/relationships/image" Target="/ppt/media/image2.svg" Id="R4e9696a3cebe4e33" /><Relationship Type="http://schemas.openxmlformats.org/officeDocument/2006/relationships/image" Target="/ppt/media/image3.png" Id="R0114a02989624251" /><Relationship Type="http://schemas.openxmlformats.org/officeDocument/2006/relationships/image" Target="/ppt/media/image4.png" Id="R3d9f6fb5429f4bbc" /><Relationship Type="http://schemas.openxmlformats.org/officeDocument/2006/relationships/image" Target="/ppt/media/image.jpeg" Id="Rd9dac5a3ea524a82" /><Relationship Type="http://schemas.openxmlformats.org/officeDocument/2006/relationships/notesSlide" Target="/ppt/notesSlides/notesSlide6.xml" Id="R0b99d2bc3fab4f0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17401DE-FDB5-49EC-A7C1-47A146F4EAD7}"/>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8c7af06971c947ce">
              <a:extLst>
                <a:ext uri="{96DAC541-7B7A-43D3-8B79-37D633B846F1}">
                  <asvg:svgBlip xmlns:asvg="http://schemas.microsoft.com/office/drawing/2016/SVG/main" r:embed="R7fb9d518c4d14a47"/>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5262B0CE-8BD9-4B3C-AFF5-7682C8B81E45}"/>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8c7af06971c947ce">
              <a:extLst>
                <a:ext uri="{96DAC541-7B7A-43D3-8B79-37D633B846F1}">
                  <asvg:svgBlip xmlns:asvg="http://schemas.microsoft.com/office/drawing/2016/SVG/main" r:embed="R7fb9d518c4d14a47"/>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B10B8A42-B42A-442E-9B1D-CCFFA038CAAA}"/>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3c02a867b09947ea">
              <a:extLst>
                <a:ext uri="{96DAC541-7B7A-43D3-8B79-37D633B846F1}">
                  <asvg:svgBlip xmlns:asvg="http://schemas.microsoft.com/office/drawing/2016/SVG/main" r:embed="Red1dff3a7c184d54"/>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2AE27EFA-C326-4F9E-9119-1F9927529FD4}"/>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8c7af06971c947ce">
              <a:extLst>
                <a:ext uri="{96DAC541-7B7A-43D3-8B79-37D633B846F1}">
                  <asvg:svgBlip xmlns:asvg="http://schemas.microsoft.com/office/drawing/2016/SVG/main" r:embed="R7fb9d518c4d14a47"/>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286C2B66-14E5-4148-A76B-B87104777C92}"/>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3c02a867b09947ea">
              <a:extLst>
                <a:ext uri="{96DAC541-7B7A-43D3-8B79-37D633B846F1}">
                  <asvg:svgBlip xmlns:asvg="http://schemas.microsoft.com/office/drawing/2016/SVG/main" r:embed="Red1dff3a7c184d54"/>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48EE3673-CC4C-45C8-BD93-3D8C1620F37B}"/>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8c7af06971c947ce">
              <a:extLst>
                <a:ext uri="{96DAC541-7B7A-43D3-8B79-37D633B846F1}">
                  <asvg:svgBlip xmlns:asvg="http://schemas.microsoft.com/office/drawing/2016/SVG/main" r:embed="R7fb9d518c4d14a47"/>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FF3490DA-545A-4E84-8AD5-9A0FDA70986E}"/>
              </a:ext>
            </a:extLst>
          </p:cNvPr>
          <p:cNvSpPr>
            <a:spLocks xmlns:a="http://schemas.openxmlformats.org/drawingml/2006/main" noGrp="1"/>
          </p:cNvSpPr>
          <p:nvPr/>
        </p:nvSpPr>
        <p:spPr>
          <a:xfrm xmlns:a="http://schemas.openxmlformats.org/drawingml/2006/main">
            <a:off x="3381375" y="4714875"/>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Team Barbie</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Code for Communities 2026</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Focus: Healthcare and accessibility</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Type: Software</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Webcam gaze selection helps users speak everyday requests.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ADWIK SHANKHDHAR, BISWA RANJAN </a:t>
            </a:r>
            <a:r>
              <a:rPr sz="2450">
                <a:solidFill>
                  <a:srgbClr val="000000"/>
                </a:solidFill>
                <a:latin typeface="Aristotelica Pro"/>
                <a:ea typeface="Aristotelica Pro"/>
                <a:cs typeface="Aristotelica Pro"/>
              </a:rPr>
              <a:t>PANDA, PRANAV</a:t>
            </a:r>
            <a:r>
              <a:rPr sz="2450">
                <a:solidFill>
                  <a:srgbClr val="000000"/>
                </a:solidFill>
                <a:latin typeface="Aristotelica Pro"/>
                <a:ea typeface="Aristotelica Pro"/>
                <a:cs typeface="Aristotelica Pro"/>
              </a:rPr>
              <a:t> </a:t>
            </a:r>
            <a:r>
              <a:rPr sz="2450">
                <a:solidFill>
                  <a:srgbClr val="000000"/>
                </a:solidFill>
                <a:latin typeface="Aristotelica Pro"/>
                <a:ea typeface="Aristotelica Pro"/>
                <a:cs typeface="Aristotelica Pro"/>
              </a:rPr>
              <a:t>H</a:t>
            </a:r>
            <a:r>
              <a:rPr sz="2450">
                <a:solidFill>
                  <a:srgbClr val="000000"/>
                </a:solidFill>
                <a:latin typeface="Aristotelica Pro"/>
                <a:ea typeface="Aristotelica Pro"/>
                <a:cs typeface="Aristotelica Pro"/>
              </a:rPr>
              <a:t>, TURANY PANDEY</a:t>
            </a:r>
          </a:p>
        </p:txBody>
      </p:sp>
      <p:sp>
        <p:nvSpPr>
          <p:cNvPr id="9" name="TextBox 9">
            <a:extLst xmlns:a="http://schemas.openxmlformats.org/drawingml/2006/main">
              <a:ext uri="{FF2B5EF4-FFF2-40B4-BE49-F238E27FC236}">
                <a16:creationId xmlns:a16="http://schemas.microsoft.com/office/drawing/2014/main" id="{69A11687-75FF-4748-9836-A9724DB78AA6}"/>
              </a:ext>
            </a:extLst>
          </p:cNvPr>
          <p:cNvSpPr>
            <a:spLocks xmlns:a="http://schemas.openxmlformats.org/drawingml/2006/main" noGrp="1"/>
          </p:cNvSpPr>
          <p:nvPr/>
        </p:nvSpPr>
        <p:spPr>
          <a:xfrm xmlns:a="http://schemas.openxmlformats.org/drawingml/2006/main">
            <a:off x="3377660" y="3605879"/>
            <a:ext cx="61912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VISIONLOOP</a:t>
            </a:r>
          </a:p>
        </p:txBody>
      </p:sp>
      <p:sp>
        <p:nvSpPr>
          <p:cNvPr id="10" name="Freeform 10">
            <a:extLst xmlns:a="http://schemas.openxmlformats.org/drawingml/2006/main">
              <a:ext uri="{FF2B5EF4-FFF2-40B4-BE49-F238E27FC236}">
                <a16:creationId xmlns:a16="http://schemas.microsoft.com/office/drawing/2014/main" id="{F7C82A2C-EFBA-46C4-B8E9-BFA546C8CE5E}"/>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ca584d0b91904923"/>
            <a:stretch>
              <a:fillRect l="-694" t="-655" r="0" b="-655"/>
            </a:stretch>
          </a:blipFill>
        </p:spPr>
      </p:sp>
      <p:sp>
        <p:nvSpPr>
          <p:cNvPr id="11" name="Freeform 11">
            <a:extLst xmlns:a="http://schemas.openxmlformats.org/drawingml/2006/main">
              <a:ext uri="{FF2B5EF4-FFF2-40B4-BE49-F238E27FC236}">
                <a16:creationId xmlns:a16="http://schemas.microsoft.com/office/drawing/2014/main" id="{5C53E4F6-1A79-42B4-B76C-7DDB8C7B7309}"/>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15f0b556665e4c72"/>
            <a:stretch>
              <a:fillRect l="0" t="0" r="0" b="0"/>
            </a:stretch>
          </a:blipFill>
        </p:spPr>
      </p:sp>
      <p:sp>
        <p:nvSpPr>
          <p:cNvPr id="12" name="Freeform 12">
            <a:extLst xmlns:a="http://schemas.openxmlformats.org/drawingml/2006/main">
              <a:ext uri="{FF2B5EF4-FFF2-40B4-BE49-F238E27FC236}">
                <a16:creationId xmlns:a16="http://schemas.microsoft.com/office/drawing/2014/main" id="{3AF7B51A-54AD-4E15-B63E-674C268DF9A0}"/>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14e97b12ea54481e"/>
            <a:stretch>
              <a:fillRect l="0" t="0" r="0" b="0"/>
            </a:stretch>
          </a:blipFill>
        </p:spPr>
      </p:sp>
    </p:spTree>
    <p:extLst>
      <p:ext uri="{BB962C8B-B14F-4D97-AF65-F5344CB8AC3E}">
        <p14:creationId xmlns:p14="http://schemas.microsoft.com/office/powerpoint/2010/main" val="6748281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E3DF85B5-1D43-4C6C-8F14-FC23865ACD6B}"/>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a6625eea88e04285">
              <a:extLst>
                <a:ext uri="{96DAC541-7B7A-43D3-8B79-37D633B846F1}">
                  <asvg:svgBlip xmlns:asvg="http://schemas.microsoft.com/office/drawing/2016/SVG/main" r:embed="R63cd039d051243f2"/>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96AF6C8F-01B7-44A1-84DE-27727BEA80CC}"/>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a6625eea88e04285">
              <a:extLst>
                <a:ext uri="{96DAC541-7B7A-43D3-8B79-37D633B846F1}">
                  <asvg:svgBlip xmlns:asvg="http://schemas.microsoft.com/office/drawing/2016/SVG/main" r:embed="R63cd039d051243f2"/>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2945FCE4-4C1D-48BA-AE3B-2FCEFB91D181}"/>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4aea7a03552e4eb4">
              <a:extLst>
                <a:ext uri="{96DAC541-7B7A-43D3-8B79-37D633B846F1}">
                  <asvg:svgBlip xmlns:asvg="http://schemas.microsoft.com/office/drawing/2016/SVG/main" r:embed="Rff393597211b48c4"/>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B7AB589C-B735-4288-A767-0B8388A58291}"/>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a6625eea88e04285">
              <a:extLst>
                <a:ext uri="{96DAC541-7B7A-43D3-8B79-37D633B846F1}">
                  <asvg:svgBlip xmlns:asvg="http://schemas.microsoft.com/office/drawing/2016/SVG/main" r:embed="R63cd039d051243f2"/>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CDBC1223-166F-4ADA-A784-7964A8CC76C8}"/>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4aea7a03552e4eb4">
              <a:extLst>
                <a:ext uri="{96DAC541-7B7A-43D3-8B79-37D633B846F1}">
                  <asvg:svgBlip xmlns:asvg="http://schemas.microsoft.com/office/drawing/2016/SVG/main" r:embed="Rff393597211b48c4"/>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4100233B-1E19-45A7-9928-49CB2A3B91E6}"/>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a6625eea88e04285">
              <a:extLst>
                <a:ext uri="{96DAC541-7B7A-43D3-8B79-37D633B846F1}">
                  <asvg:svgBlip xmlns:asvg="http://schemas.microsoft.com/office/drawing/2016/SVG/main" r:embed="R63cd039d051243f2"/>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8B06A87F-D749-4398-9808-2E9D6D1488BD}"/>
              </a:ext>
            </a:extLst>
          </p:cNvPr>
          <p:cNvSpPr>
            <a:spLocks xmlns:a="http://schemas.openxmlformats.org/drawingml/2006/main" noGrp="1"/>
          </p:cNvSpPr>
          <p:nvPr/>
        </p:nvSpPr>
        <p:spPr>
          <a:xfrm xmlns:a="http://schemas.openxmlformats.org/drawingml/2006/main">
            <a:off x="3381375" y="4714875"/>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People with limited speech and movement can struggle to express basic needs.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Our intended users can direct their gaze but may struggle with touch controls.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At the bedside, needs include water, repositioning, discomfort, and assistance.</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Touch interfaces require hand control. Partner-assisted boards require another person.</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VisionLoop explores accessible communication through an ordinary webcam.</a:t>
            </a:r>
          </a:p>
        </p:txBody>
      </p:sp>
      <p:sp>
        <p:nvSpPr>
          <p:cNvPr id="9" name="TextBox 9">
            <a:extLst xmlns:a="http://schemas.openxmlformats.org/drawingml/2006/main">
              <a:ext uri="{FF2B5EF4-FFF2-40B4-BE49-F238E27FC236}">
                <a16:creationId xmlns:a16="http://schemas.microsoft.com/office/drawing/2014/main" id="{9410DB1E-4BA4-4110-AF92-72D18F9D16F5}"/>
              </a:ext>
            </a:extLst>
          </p:cNvPr>
          <p:cNvSpPr>
            <a:spLocks xmlns:a="http://schemas.openxmlformats.org/drawingml/2006/main" noGrp="1"/>
          </p:cNvSpPr>
          <p:nvPr/>
        </p:nvSpPr>
        <p:spPr>
          <a:xfrm xmlns:a="http://schemas.openxmlformats.org/drawingml/2006/main">
            <a:off x="5971372" y="2318068"/>
            <a:ext cx="5139931" cy="10382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THE PROBLEM</a:t>
            </a:r>
          </a:p>
        </p:txBody>
      </p:sp>
      <p:sp>
        <p:nvSpPr>
          <p:cNvPr id="10" name="Freeform 10">
            <a:extLst xmlns:a="http://schemas.openxmlformats.org/drawingml/2006/main">
              <a:ext uri="{FF2B5EF4-FFF2-40B4-BE49-F238E27FC236}">
                <a16:creationId xmlns:a16="http://schemas.microsoft.com/office/drawing/2014/main" id="{D32B096F-CC45-4B5F-BD21-A6866F1D68C4}"/>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1d981678bba141fa"/>
            <a:stretch>
              <a:fillRect l="-694" t="-655" r="0" b="-655"/>
            </a:stretch>
          </a:blipFill>
        </p:spPr>
      </p:sp>
      <p:sp>
        <p:nvSpPr>
          <p:cNvPr id="11" name="Freeform 11">
            <a:extLst xmlns:a="http://schemas.openxmlformats.org/drawingml/2006/main">
              <a:ext uri="{FF2B5EF4-FFF2-40B4-BE49-F238E27FC236}">
                <a16:creationId xmlns:a16="http://schemas.microsoft.com/office/drawing/2014/main" id="{7A09E17C-C675-44D8-9BFF-60A6AE3CB9B7}"/>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74dd353fcc6e4820"/>
            <a:stretch>
              <a:fillRect l="0" t="0" r="0" b="0"/>
            </a:stretch>
          </a:blipFill>
        </p:spPr>
      </p:sp>
      <p:sp>
        <p:nvSpPr>
          <p:cNvPr id="12" name="Freeform 12">
            <a:extLst xmlns:a="http://schemas.openxmlformats.org/drawingml/2006/main">
              <a:ext uri="{FF2B5EF4-FFF2-40B4-BE49-F238E27FC236}">
                <a16:creationId xmlns:a16="http://schemas.microsoft.com/office/drawing/2014/main" id="{73ECF15B-C50F-4F68-AFB2-D524AE280F4F}"/>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dfbf3497eec44d75"/>
            <a:stretch>
              <a:fillRect l="0" t="0" r="0" b="0"/>
            </a:stretch>
          </a:blipFill>
        </p:spPr>
      </p:sp>
    </p:spTree>
    <p:extLst>
      <p:ext uri="{BB962C8B-B14F-4D97-AF65-F5344CB8AC3E}">
        <p14:creationId xmlns:p14="http://schemas.microsoft.com/office/powerpoint/2010/main" val="138571963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79E8E2F-32A7-4E77-B9BB-F1F283F6099B}"/>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e1abb02c5559478b">
              <a:extLst>
                <a:ext uri="{96DAC541-7B7A-43D3-8B79-37D633B846F1}">
                  <asvg:svgBlip xmlns:asvg="http://schemas.microsoft.com/office/drawing/2016/SVG/main" r:embed="Ra6e788a70d2a409d"/>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5BEB6015-C8F8-4F1C-B4B8-FA5CA706A2F7}"/>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e1abb02c5559478b">
              <a:extLst>
                <a:ext uri="{96DAC541-7B7A-43D3-8B79-37D633B846F1}">
                  <asvg:svgBlip xmlns:asvg="http://schemas.microsoft.com/office/drawing/2016/SVG/main" r:embed="Ra6e788a70d2a409d"/>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A8CD0DBB-8501-43BA-89AA-9E3CBFB413C1}"/>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2828b49df3d04659">
              <a:extLst>
                <a:ext uri="{96DAC541-7B7A-43D3-8B79-37D633B846F1}">
                  <asvg:svgBlip xmlns:asvg="http://schemas.microsoft.com/office/drawing/2016/SVG/main" r:embed="R72bbd92243b24a5a"/>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8B4D4ACE-E08E-465C-85C7-FE617E02B6D6}"/>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e1abb02c5559478b">
              <a:extLst>
                <a:ext uri="{96DAC541-7B7A-43D3-8B79-37D633B846F1}">
                  <asvg:svgBlip xmlns:asvg="http://schemas.microsoft.com/office/drawing/2016/SVG/main" r:embed="Ra6e788a70d2a409d"/>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743FADBA-8263-4295-AAF2-958CE0B3E52E}"/>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2828b49df3d04659">
              <a:extLst>
                <a:ext uri="{96DAC541-7B7A-43D3-8B79-37D633B846F1}">
                  <asvg:svgBlip xmlns:asvg="http://schemas.microsoft.com/office/drawing/2016/SVG/main" r:embed="R72bbd92243b24a5a"/>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4B14C8C1-9A32-4EDA-AB58-48F7CC1DB025}"/>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e1abb02c5559478b">
              <a:extLst>
                <a:ext uri="{96DAC541-7B7A-43D3-8B79-37D633B846F1}">
                  <asvg:svgBlip xmlns:asvg="http://schemas.microsoft.com/office/drawing/2016/SVG/main" r:embed="Ra6e788a70d2a409d"/>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19621CAA-3EEF-422E-B3CA-FA31915D9796}"/>
              </a:ext>
            </a:extLst>
          </p:cNvPr>
          <p:cNvSpPr>
            <a:spLocks xmlns:a="http://schemas.openxmlformats.org/drawingml/2006/main" noGrp="1"/>
          </p:cNvSpPr>
          <p:nvPr/>
        </p:nvSpPr>
        <p:spPr>
          <a:xfrm xmlns:a="http://schemas.openxmlformats.org/drawingml/2006/main">
            <a:off x="3381375" y="4714875"/>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A browser app turns calibrated gaze into spoken phrase selections.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Gaze Phrases divides choices into two groups until one phrase remains.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Blink or dwell confirms a phrase choice. An upper gaze zone lets users go back.</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The Patient Board adds directional eye navigation, yes/no responses, and sentences.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An Aim Trainer lets users practice gaze control with feedback.</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Current scope: a communication prototype. Hospital alert integration is future work.</a:t>
            </a:r>
          </a:p>
        </p:txBody>
      </p:sp>
      <p:sp>
        <p:nvSpPr>
          <p:cNvPr id="9" name="TextBox 9">
            <a:extLst xmlns:a="http://schemas.openxmlformats.org/drawingml/2006/main">
              <a:ext uri="{FF2B5EF4-FFF2-40B4-BE49-F238E27FC236}">
                <a16:creationId xmlns:a16="http://schemas.microsoft.com/office/drawing/2014/main" id="{417EAC34-0F9E-4546-8AA4-5A06C7E575B7}"/>
              </a:ext>
            </a:extLst>
          </p:cNvPr>
          <p:cNvSpPr>
            <a:spLocks xmlns:a="http://schemas.openxmlformats.org/drawingml/2006/main" noGrp="1"/>
          </p:cNvSpPr>
          <p:nvPr/>
        </p:nvSpPr>
        <p:spPr>
          <a:xfrm xmlns:a="http://schemas.openxmlformats.org/drawingml/2006/main">
            <a:off x="6172793" y="2241939"/>
            <a:ext cx="5261527" cy="10382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THE SOLUTION</a:t>
            </a:r>
          </a:p>
        </p:txBody>
      </p:sp>
      <p:sp>
        <p:nvSpPr>
          <p:cNvPr id="10" name="Freeform 10">
            <a:extLst xmlns:a="http://schemas.openxmlformats.org/drawingml/2006/main">
              <a:ext uri="{FF2B5EF4-FFF2-40B4-BE49-F238E27FC236}">
                <a16:creationId xmlns:a16="http://schemas.microsoft.com/office/drawing/2014/main" id="{17069064-5BCF-4458-8353-20486E6EE295}"/>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dffb5b20b983450d"/>
            <a:stretch>
              <a:fillRect l="-694" t="-655" r="0" b="-655"/>
            </a:stretch>
          </a:blipFill>
        </p:spPr>
      </p:sp>
      <p:sp>
        <p:nvSpPr>
          <p:cNvPr id="11" name="Freeform 11">
            <a:extLst xmlns:a="http://schemas.openxmlformats.org/drawingml/2006/main">
              <a:ext uri="{FF2B5EF4-FFF2-40B4-BE49-F238E27FC236}">
                <a16:creationId xmlns:a16="http://schemas.microsoft.com/office/drawing/2014/main" id="{7EFAE8CA-E8FF-4133-816C-40D02A4A526D}"/>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1478a30fbe234e9d"/>
            <a:stretch>
              <a:fillRect l="0" t="0" r="0" b="0"/>
            </a:stretch>
          </a:blipFill>
        </p:spPr>
      </p:sp>
      <p:sp>
        <p:nvSpPr>
          <p:cNvPr id="12" name="Freeform 12">
            <a:extLst xmlns:a="http://schemas.openxmlformats.org/drawingml/2006/main">
              <a:ext uri="{FF2B5EF4-FFF2-40B4-BE49-F238E27FC236}">
                <a16:creationId xmlns:a16="http://schemas.microsoft.com/office/drawing/2014/main" id="{5C256D39-33DD-4127-B3DD-B00F5DF544EE}"/>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e1566c6ac858438f"/>
            <a:stretch>
              <a:fillRect l="0" t="0" r="0" b="0"/>
            </a:stretch>
          </a:blipFill>
        </p:spPr>
      </p:sp>
    </p:spTree>
    <p:extLst>
      <p:ext uri="{BB962C8B-B14F-4D97-AF65-F5344CB8AC3E}">
        <p14:creationId xmlns:p14="http://schemas.microsoft.com/office/powerpoint/2010/main" val="85385512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CE67FB7-E339-4EE9-87F3-641AA29C6DAC}"/>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ff529f33a526440b">
              <a:extLst>
                <a:ext uri="{96DAC541-7B7A-43D3-8B79-37D633B846F1}">
                  <asvg:svgBlip xmlns:asvg="http://schemas.microsoft.com/office/drawing/2016/SVG/main" r:embed="R81dd27e4361046b5"/>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C14B828E-6402-4912-BEE7-229BED016D20}"/>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ff529f33a526440b">
              <a:extLst>
                <a:ext uri="{96DAC541-7B7A-43D3-8B79-37D633B846F1}">
                  <asvg:svgBlip xmlns:asvg="http://schemas.microsoft.com/office/drawing/2016/SVG/main" r:embed="R81dd27e4361046b5"/>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BD10DA86-13B8-4F28-ABA2-C04D79B5B14E}"/>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d5e882a81ca04b1e">
              <a:extLst>
                <a:ext uri="{96DAC541-7B7A-43D3-8B79-37D633B846F1}">
                  <asvg:svgBlip xmlns:asvg="http://schemas.microsoft.com/office/drawing/2016/SVG/main" r:embed="R0ee9108675ae4464"/>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4D42B78D-8F4B-48E2-A3F3-49680D5E3E12}"/>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ff529f33a526440b">
              <a:extLst>
                <a:ext uri="{96DAC541-7B7A-43D3-8B79-37D633B846F1}">
                  <asvg:svgBlip xmlns:asvg="http://schemas.microsoft.com/office/drawing/2016/SVG/main" r:embed="R81dd27e4361046b5"/>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E32186B0-EC6B-4332-99BA-66370D95D291}"/>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d5e882a81ca04b1e">
              <a:extLst>
                <a:ext uri="{96DAC541-7B7A-43D3-8B79-37D633B846F1}">
                  <asvg:svgBlip xmlns:asvg="http://schemas.microsoft.com/office/drawing/2016/SVG/main" r:embed="R0ee9108675ae4464"/>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C26220F0-1600-4413-AE2E-E71BF3BF260F}"/>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ff529f33a526440b">
              <a:extLst>
                <a:ext uri="{96DAC541-7B7A-43D3-8B79-37D633B846F1}">
                  <asvg:svgBlip xmlns:asvg="http://schemas.microsoft.com/office/drawing/2016/SVG/main" r:embed="R81dd27e4361046b5"/>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F6CD5CC9-5C39-44DA-8728-91E96A046C82}"/>
              </a:ext>
            </a:extLst>
          </p:cNvPr>
          <p:cNvSpPr>
            <a:spLocks xmlns:a="http://schemas.openxmlformats.org/drawingml/2006/main" noGrp="1"/>
          </p:cNvSpPr>
          <p:nvPr/>
        </p:nvSpPr>
        <p:spPr>
          <a:xfrm xmlns:a="http://schemas.openxmlformats.org/drawingml/2006/main">
            <a:off x="6027222" y="2148496"/>
            <a:ext cx="64245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MAIN DASHBOARD</a:t>
            </a:r>
          </a:p>
        </p:txBody>
      </p:sp>
      <p:sp>
        <p:nvSpPr>
          <p:cNvPr id="9" name="Freeform 9">
            <a:extLst xmlns:a="http://schemas.openxmlformats.org/drawingml/2006/main">
              <a:ext uri="{FF2B5EF4-FFF2-40B4-BE49-F238E27FC236}">
                <a16:creationId xmlns:a16="http://schemas.microsoft.com/office/drawing/2014/main" id="{322FA1D1-5C2F-4019-B294-BB733BB76009}"/>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26f32983e9b145f6"/>
            <a:stretch>
              <a:fillRect l="-694" t="-655" r="0" b="-655"/>
            </a:stretch>
          </a:blipFill>
        </p:spPr>
      </p:sp>
      <p:sp>
        <p:nvSpPr>
          <p:cNvPr id="10" name="Freeform 10">
            <a:extLst xmlns:a="http://schemas.openxmlformats.org/drawingml/2006/main">
              <a:ext uri="{FF2B5EF4-FFF2-40B4-BE49-F238E27FC236}">
                <a16:creationId xmlns:a16="http://schemas.microsoft.com/office/drawing/2014/main" id="{B338811C-36F4-4C4C-9864-97D478611FEB}"/>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eae2c53f6b534ce5"/>
            <a:stretch>
              <a:fillRect l="0" t="0" r="0" b="0"/>
            </a:stretch>
          </a:blipFill>
        </p:spPr>
      </p:sp>
      <p:sp>
        <p:nvSpPr>
          <p:cNvPr id="11" name="Freeform 11">
            <a:extLst xmlns:a="http://schemas.openxmlformats.org/drawingml/2006/main">
              <a:ext uri="{FF2B5EF4-FFF2-40B4-BE49-F238E27FC236}">
                <a16:creationId xmlns:a16="http://schemas.microsoft.com/office/drawing/2014/main" id="{61D5E023-FECC-46A6-A958-CA5C9267EF5E}"/>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b46f9e1b7b8b4c32"/>
            <a:stretch>
              <a:fillRect l="0" t="0" r="0" b="0"/>
            </a:stretch>
          </a:blipFill>
        </p:spPr>
      </p:sp>
      <p:sp>
        <p:nvSpPr>
          <p:cNvPr id="12" name="TextBox 12">
            <a:extLst xmlns:a="http://schemas.openxmlformats.org/drawingml/2006/main">
              <a:ext uri="{FF2B5EF4-FFF2-40B4-BE49-F238E27FC236}">
                <a16:creationId xmlns:a16="http://schemas.microsoft.com/office/drawing/2014/main" id="{0E19E99E-E6ED-47B9-92AC-438E839B2436}"/>
              </a:ext>
            </a:extLst>
          </p:cNvPr>
          <p:cNvSpPr>
            <a:spLocks xmlns:a="http://schemas.openxmlformats.org/drawingml/2006/main" noGrp="1"/>
          </p:cNvSpPr>
          <p:nvPr/>
        </p:nvSpPr>
        <p:spPr>
          <a:xfrm xmlns:a="http://schemas.openxmlformats.org/drawingml/2006/main">
            <a:off x="2952750" y="8096250"/>
            <a:ext cx="12382500" cy="857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gn="ctr">
              <a:spcAft>
                <a:spcPts val="750"/>
              </a:spcAft>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Look in a direction to move. Hold a blink to select a request.</a:t>
            </a:r>
          </a:p>
          <a:p xmlns:a="http://schemas.openxmlformats.org/drawingml/2006/main">
            <a:pPr marL="0" indent="0" algn="ctr">
              <a:defRPr sz="2499">
                <a:solidFill>
                  <a:srgbClr val="000000"/>
                </a:solidFill>
                <a:latin typeface="Aristotelica Pro"/>
                <a:ea typeface="Aristotelica Pro"/>
                <a:cs typeface="Aristotelica Pro"/>
              </a:defRPr>
            </a:pPr>
            <a:r>
              <a:rPr sz="2499" u="sng">
                <a:solidFill>
                  <a:srgbClr val="000000"/>
                </a:solidFill>
                <a:latin typeface="Aristotelica Pro"/>
                <a:ea typeface="Aristotelica Pro"/>
                <a:cs typeface="Aristotelica Pro"/>
                <a:hlinkClick xmlns:r="http://schemas.openxmlformats.org/officeDocument/2006/relationships" r:id="R7b9ea79cc81c42d4"/>
              </a:rPr>
              <a:t>View UI in Figma</a:t>
            </a:r>
          </a:p>
        </p:txBody>
      </p:sp>
      <p:pic>
        <p:nvPicPr>
          <p:cNvPr id="25" name="Picture 24"/>
          <p:cNvPicPr>
            <a:picLocks xmlns:a="http://schemas.openxmlformats.org/drawingml/2006/main" noChangeAspect="1"/>
          </p:cNvPicPr>
          <p:nvPr/>
        </p:nvPicPr>
        <p:blipFill>
          <a:blip xmlns:r="http://schemas.openxmlformats.org/officeDocument/2006/relationships" xmlns:a="http://schemas.openxmlformats.org/drawingml/2006/main" r:embed="Rb4c5722a79274e77"/>
          <a:stretch xmlns:a="http://schemas.openxmlformats.org/drawingml/2006/main"/>
        </p:blipFill>
        <p:spPr>
          <a:xfrm xmlns:a="http://schemas.openxmlformats.org/drawingml/2006/main">
            <a:off x="2952750" y="3476626"/>
            <a:ext cx="12382500" cy="4337083"/>
          </a:xfrm>
          <a:prstGeom xmlns:a="http://schemas.openxmlformats.org/drawingml/2006/main" prst="rect">
            <a:avLst/>
          </a:prstGeom>
        </p:spPr>
      </p:pic>
    </p:spTree>
    <p:extLst>
      <p:ext uri="{BB962C8B-B14F-4D97-AF65-F5344CB8AC3E}">
        <p14:creationId xmlns:p14="http://schemas.microsoft.com/office/powerpoint/2010/main" val="10251514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38457D5D-1A83-4101-9225-BB5081474DE9}"/>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febf706a003c4e3d">
              <a:extLst>
                <a:ext uri="{96DAC541-7B7A-43D3-8B79-37D633B846F1}">
                  <asvg:svgBlip xmlns:asvg="http://schemas.microsoft.com/office/drawing/2016/SVG/main" r:embed="R39b7fdc2f84443b1"/>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F7CBB9AE-0F22-42F8-AEEE-A4565D162FEA}"/>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febf706a003c4e3d">
              <a:extLst>
                <a:ext uri="{96DAC541-7B7A-43D3-8B79-37D633B846F1}">
                  <asvg:svgBlip xmlns:asvg="http://schemas.microsoft.com/office/drawing/2016/SVG/main" r:embed="R39b7fdc2f84443b1"/>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AFE8FA92-50E4-45A7-99FB-9EC04D892F6D}"/>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d128194ad7e1423f">
              <a:extLst>
                <a:ext uri="{96DAC541-7B7A-43D3-8B79-37D633B846F1}">
                  <asvg:svgBlip xmlns:asvg="http://schemas.microsoft.com/office/drawing/2016/SVG/main" r:embed="R641b64f272d54a9f"/>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D54B3F-0E11-4CE8-AC6A-4E0F504E101E}"/>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febf706a003c4e3d">
              <a:extLst>
                <a:ext uri="{96DAC541-7B7A-43D3-8B79-37D633B846F1}">
                  <asvg:svgBlip xmlns:asvg="http://schemas.microsoft.com/office/drawing/2016/SVG/main" r:embed="R39b7fdc2f84443b1"/>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AB43EE4E-2DC4-489B-81CA-B36B1DC4AA4A}"/>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d128194ad7e1423f">
              <a:extLst>
                <a:ext uri="{96DAC541-7B7A-43D3-8B79-37D633B846F1}">
                  <asvg:svgBlip xmlns:asvg="http://schemas.microsoft.com/office/drawing/2016/SVG/main" r:embed="R641b64f272d54a9f"/>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C1E1915C-28E2-4E08-A894-68B59A1CE387}"/>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febf706a003c4e3d">
              <a:extLst>
                <a:ext uri="{96DAC541-7B7A-43D3-8B79-37D633B846F1}">
                  <asvg:svgBlip xmlns:asvg="http://schemas.microsoft.com/office/drawing/2016/SVG/main" r:embed="R39b7fdc2f84443b1"/>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F06F0CB4-524A-441A-9023-248AB47FA9A6}"/>
              </a:ext>
            </a:extLst>
          </p:cNvPr>
          <p:cNvSpPr>
            <a:spLocks xmlns:a="http://schemas.openxmlformats.org/drawingml/2006/main" noGrp="1"/>
          </p:cNvSpPr>
          <p:nvPr/>
        </p:nvSpPr>
        <p:spPr>
          <a:xfrm xmlns:a="http://schemas.openxmlformats.org/drawingml/2006/main">
            <a:off x="3381375" y="4714875"/>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React and TypeScript provide the interface. Vite builds and serves the app.</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MediaPipe Face Landmarker estimates facial and iris landmarks on the device.</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Calibration maps eye features to screen position. Smoothing reduces cursor jitter.</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Blink/dwell selection drives phrases. Audio clips and speech synthesis provide output.</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Calibration stays in browser storage. CDN assets require internet at startup.</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GitHub: github.com/Team-Barbie/vinhack-26</a:t>
            </a:r>
          </a:p>
        </p:txBody>
      </p:sp>
      <p:sp>
        <p:nvSpPr>
          <p:cNvPr id="9" name="TextBox 9">
            <a:extLst xmlns:a="http://schemas.openxmlformats.org/drawingml/2006/main">
              <a:ext uri="{FF2B5EF4-FFF2-40B4-BE49-F238E27FC236}">
                <a16:creationId xmlns:a16="http://schemas.microsoft.com/office/drawing/2014/main" id="{9D5A98C4-A089-49D7-8F84-BACA93813C2A}"/>
              </a:ext>
            </a:extLst>
          </p:cNvPr>
          <p:cNvSpPr>
            <a:spLocks xmlns:a="http://schemas.openxmlformats.org/drawingml/2006/main" noGrp="1"/>
          </p:cNvSpPr>
          <p:nvPr/>
        </p:nvSpPr>
        <p:spPr>
          <a:xfrm xmlns:a="http://schemas.openxmlformats.org/drawingml/2006/main">
            <a:off x="6349282" y="2231484"/>
            <a:ext cx="5577675" cy="10382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HOW IT WORKS</a:t>
            </a:r>
          </a:p>
        </p:txBody>
      </p:sp>
      <p:sp>
        <p:nvSpPr>
          <p:cNvPr id="10" name="Freeform 10">
            <a:extLst xmlns:a="http://schemas.openxmlformats.org/drawingml/2006/main">
              <a:ext uri="{FF2B5EF4-FFF2-40B4-BE49-F238E27FC236}">
                <a16:creationId xmlns:a16="http://schemas.microsoft.com/office/drawing/2014/main" id="{3E614BE8-0250-45BE-803A-909C452A48A2}"/>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cd106b529a4c4394"/>
            <a:stretch>
              <a:fillRect l="-694" t="-655" r="0" b="-655"/>
            </a:stretch>
          </a:blipFill>
        </p:spPr>
      </p:sp>
      <p:sp>
        <p:nvSpPr>
          <p:cNvPr id="11" name="Freeform 11">
            <a:extLst xmlns:a="http://schemas.openxmlformats.org/drawingml/2006/main">
              <a:ext uri="{FF2B5EF4-FFF2-40B4-BE49-F238E27FC236}">
                <a16:creationId xmlns:a16="http://schemas.microsoft.com/office/drawing/2014/main" id="{4174AE34-9793-4194-AAD0-7653E25EEE68}"/>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22d06805fa094cbd"/>
            <a:stretch>
              <a:fillRect l="0" t="0" r="0" b="0"/>
            </a:stretch>
          </a:blipFill>
        </p:spPr>
      </p:sp>
      <p:sp>
        <p:nvSpPr>
          <p:cNvPr id="12" name="Freeform 12">
            <a:extLst xmlns:a="http://schemas.openxmlformats.org/drawingml/2006/main">
              <a:ext uri="{FF2B5EF4-FFF2-40B4-BE49-F238E27FC236}">
                <a16:creationId xmlns:a16="http://schemas.microsoft.com/office/drawing/2014/main" id="{E583F958-2CB7-42C8-BFCE-5DE7727F07C4}"/>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be3f420bc70d454f"/>
            <a:stretch>
              <a:fillRect l="0" t="0" r="0" b="0"/>
            </a:stretch>
          </a:blipFill>
        </p:spPr>
      </p:sp>
      <p:sp>
        <p:nvSpPr>
          <p:cNvPr id="13" name="Workflow Webcam">
            <a:extLst xmlns:a="http://schemas.openxmlformats.org/drawingml/2006/main">
              <a:ext uri="{FF2B5EF4-FFF2-40B4-BE49-F238E27FC236}">
                <a16:creationId xmlns:a16="http://schemas.microsoft.com/office/drawing/2014/main" id="{AA06C52C-5AD4-4F3C-956F-E013AB29FD97}"/>
              </a:ext>
            </a:extLst>
          </p:cNvPr>
          <p:cNvSpPr>
            <a:spLocks xmlns:a="http://schemas.openxmlformats.org/drawingml/2006/main" noGrp="1"/>
          </p:cNvSpPr>
          <p:nvPr/>
        </p:nvSpPr>
        <p:spPr>
          <a:xfrm xmlns:a="http://schemas.openxmlformats.org/drawingml/2006/main">
            <a:off x="3381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Webcam</a:t>
            </a:r>
          </a:p>
        </p:txBody>
      </p:sp>
      <p:sp>
        <p:nvSpPr>
          <p:cNvPr id="14" name="Workflow Face landmarks">
            <a:extLst xmlns:a="http://schemas.openxmlformats.org/drawingml/2006/main">
              <a:ext uri="{FF2B5EF4-FFF2-40B4-BE49-F238E27FC236}">
                <a16:creationId xmlns:a16="http://schemas.microsoft.com/office/drawing/2014/main" id="{F5595A6E-4D7A-484C-977F-906E92AAF200}"/>
              </a:ext>
            </a:extLst>
          </p:cNvPr>
          <p:cNvSpPr>
            <a:spLocks xmlns:a="http://schemas.openxmlformats.org/drawingml/2006/main" noGrp="1"/>
          </p:cNvSpPr>
          <p:nvPr/>
        </p:nvSpPr>
        <p:spPr>
          <a:xfrm xmlns:a="http://schemas.openxmlformats.org/drawingml/2006/main">
            <a:off x="6048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Face landmarks</a:t>
            </a:r>
          </a:p>
        </p:txBody>
      </p:sp>
      <p:sp>
        <p:nvSpPr>
          <p:cNvPr id="15" name="Workflow Gaze mapping">
            <a:extLst xmlns:a="http://schemas.openxmlformats.org/drawingml/2006/main">
              <a:ext uri="{FF2B5EF4-FFF2-40B4-BE49-F238E27FC236}">
                <a16:creationId xmlns:a16="http://schemas.microsoft.com/office/drawing/2014/main" id="{2C5F3FF6-FA0A-46E2-B5AB-DF58DE8DCC63}"/>
              </a:ext>
            </a:extLst>
          </p:cNvPr>
          <p:cNvSpPr>
            <a:spLocks xmlns:a="http://schemas.openxmlformats.org/drawingml/2006/main" noGrp="1"/>
          </p:cNvSpPr>
          <p:nvPr/>
        </p:nvSpPr>
        <p:spPr>
          <a:xfrm xmlns:a="http://schemas.openxmlformats.org/drawingml/2006/main">
            <a:off x="8715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Gaze mapping</a:t>
            </a:r>
          </a:p>
        </p:txBody>
      </p:sp>
      <p:sp>
        <p:nvSpPr>
          <p:cNvPr id="16" name="Workflow Phrase selection">
            <a:extLst xmlns:a="http://schemas.openxmlformats.org/drawingml/2006/main">
              <a:ext uri="{FF2B5EF4-FFF2-40B4-BE49-F238E27FC236}">
                <a16:creationId xmlns:a16="http://schemas.microsoft.com/office/drawing/2014/main" id="{5261CDCB-C2A7-4088-A415-4CDF6347A1DF}"/>
              </a:ext>
            </a:extLst>
          </p:cNvPr>
          <p:cNvSpPr>
            <a:spLocks xmlns:a="http://schemas.openxmlformats.org/drawingml/2006/main" noGrp="1"/>
          </p:cNvSpPr>
          <p:nvPr/>
        </p:nvSpPr>
        <p:spPr>
          <a:xfrm xmlns:a="http://schemas.openxmlformats.org/drawingml/2006/main">
            <a:off x="11382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Phrase selection</a:t>
            </a:r>
          </a:p>
        </p:txBody>
      </p:sp>
      <p:sp>
        <p:nvSpPr>
          <p:cNvPr id="17" name="Workflow Spoken output">
            <a:extLst xmlns:a="http://schemas.openxmlformats.org/drawingml/2006/main">
              <a:ext uri="{FF2B5EF4-FFF2-40B4-BE49-F238E27FC236}">
                <a16:creationId xmlns:a16="http://schemas.microsoft.com/office/drawing/2014/main" id="{B402D2AF-9BDD-4BE5-B35A-45743720F9C0}"/>
              </a:ext>
            </a:extLst>
          </p:cNvPr>
          <p:cNvSpPr>
            <a:spLocks xmlns:a="http://schemas.openxmlformats.org/drawingml/2006/main" noGrp="1"/>
          </p:cNvSpPr>
          <p:nvPr/>
        </p:nvSpPr>
        <p:spPr>
          <a:xfrm xmlns:a="http://schemas.openxmlformats.org/drawingml/2006/main">
            <a:off x="14049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Spoken output</a:t>
            </a:r>
          </a:p>
        </p:txBody>
      </p:sp>
      <p:cxnSp>
        <p:nvCxnSpPr>
          <p:cNvPr id="58" name="Straight Arrow Connector 37"/>
          <p:cNvCxnSpPr>
            <a:stCxn xmlns:a="http://schemas.openxmlformats.org/drawingml/2006/main" id="13" idx="3"/>
            <a:endCxn xmlns:a="http://schemas.openxmlformats.org/drawingml/2006/main" id="14" idx="1"/>
          </p:cNvCxnSpPr>
          <p:nvPr/>
        </p:nvCxnSpPr>
        <p:spPr>
          <a:xfrm xmlns:a="http://schemas.openxmlformats.org/drawingml/2006/main">
            <a:off x="5524500" y="8262938"/>
            <a:ext cx="523875" cy="0"/>
          </a:xfrm>
          <a:prstGeom xmlns:a="http://schemas.openxmlformats.org/drawingml/2006/main" prst="straightConnector1">
            <a:avLst/>
          </a:prstGeom>
          <a:ln xmlns:a="http://schemas.openxmlformats.org/drawingml/2006/main" w="19050">
            <a:solidFill>
              <a:srgbClr val="000000"/>
            </a:solidFill>
            <a:tailEnd type="arrow" w="med" len="med"/>
          </a:ln>
        </p:spPr>
      </p:cxnSp>
      <p:cxnSp>
        <p:nvCxnSpPr>
          <p:cNvPr id="59" name="Straight Arrow Connector 38"/>
          <p:cNvCxnSpPr>
            <a:stCxn xmlns:a="http://schemas.openxmlformats.org/drawingml/2006/main" id="14" idx="3"/>
            <a:endCxn xmlns:a="http://schemas.openxmlformats.org/drawingml/2006/main" id="15" idx="1"/>
          </p:cNvCxnSpPr>
          <p:nvPr/>
        </p:nvCxnSpPr>
        <p:spPr>
          <a:xfrm xmlns:a="http://schemas.openxmlformats.org/drawingml/2006/main">
            <a:off x="8191500" y="8262938"/>
            <a:ext cx="523875" cy="0"/>
          </a:xfrm>
          <a:prstGeom xmlns:a="http://schemas.openxmlformats.org/drawingml/2006/main" prst="straightConnector1">
            <a:avLst/>
          </a:prstGeom>
          <a:ln xmlns:a="http://schemas.openxmlformats.org/drawingml/2006/main" w="19050">
            <a:solidFill>
              <a:srgbClr val="000000"/>
            </a:solidFill>
            <a:tailEnd type="arrow" w="med" len="med"/>
          </a:ln>
        </p:spPr>
      </p:cxnSp>
      <p:cxnSp>
        <p:nvCxnSpPr>
          <p:cNvPr id="60" name="Straight Arrow Connector 39"/>
          <p:cNvCxnSpPr>
            <a:stCxn xmlns:a="http://schemas.openxmlformats.org/drawingml/2006/main" id="15" idx="3"/>
            <a:endCxn xmlns:a="http://schemas.openxmlformats.org/drawingml/2006/main" id="16" idx="1"/>
          </p:cNvCxnSpPr>
          <p:nvPr/>
        </p:nvCxnSpPr>
        <p:spPr>
          <a:xfrm xmlns:a="http://schemas.openxmlformats.org/drawingml/2006/main">
            <a:off x="10858500" y="8262938"/>
            <a:ext cx="523875" cy="0"/>
          </a:xfrm>
          <a:prstGeom xmlns:a="http://schemas.openxmlformats.org/drawingml/2006/main" prst="straightConnector1">
            <a:avLst/>
          </a:prstGeom>
          <a:ln xmlns:a="http://schemas.openxmlformats.org/drawingml/2006/main" w="19050">
            <a:solidFill>
              <a:srgbClr val="000000"/>
            </a:solidFill>
            <a:tailEnd type="arrow" w="med" len="med"/>
          </a:ln>
        </p:spPr>
      </p:cxnSp>
      <p:cxnSp>
        <p:nvCxnSpPr>
          <p:cNvPr id="61" name="Straight Arrow Connector 40"/>
          <p:cNvCxnSpPr>
            <a:stCxn xmlns:a="http://schemas.openxmlformats.org/drawingml/2006/main" id="16" idx="3"/>
            <a:endCxn xmlns:a="http://schemas.openxmlformats.org/drawingml/2006/main" id="17" idx="1"/>
          </p:cNvCxnSpPr>
          <p:nvPr/>
        </p:nvCxnSpPr>
        <p:spPr>
          <a:xfrm xmlns:a="http://schemas.openxmlformats.org/drawingml/2006/main">
            <a:off x="13525500" y="8262938"/>
            <a:ext cx="523875" cy="0"/>
          </a:xfrm>
          <a:prstGeom xmlns:a="http://schemas.openxmlformats.org/drawingml/2006/main" prst="straightConnector1">
            <a:avLst/>
          </a:prstGeom>
          <a:ln xmlns:a="http://schemas.openxmlformats.org/drawingml/2006/main" w="19050">
            <a:solidFill>
              <a:srgbClr val="000000"/>
            </a:solidFill>
            <a:tailEnd type="arrow" w="med" len="med"/>
          </a:ln>
        </p:spPr>
      </p:cxnSp>
    </p:spTree>
    <p:extLst>
      <p:ext uri="{BB962C8B-B14F-4D97-AF65-F5344CB8AC3E}">
        <p14:creationId xmlns:p14="http://schemas.microsoft.com/office/powerpoint/2010/main" val="17118850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E5FB28D-CA16-496D-9F34-9880CCA6245D}"/>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76e29adafb6d4af4">
              <a:extLst>
                <a:ext uri="{96DAC541-7B7A-43D3-8B79-37D633B846F1}">
                  <asvg:svgBlip xmlns:asvg="http://schemas.microsoft.com/office/drawing/2016/SVG/main" r:embed="Rbb49b71492964f48"/>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922D902B-366B-40B0-A691-38A086E781AD}"/>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76e29adafb6d4af4">
              <a:extLst>
                <a:ext uri="{96DAC541-7B7A-43D3-8B79-37D633B846F1}">
                  <asvg:svgBlip xmlns:asvg="http://schemas.microsoft.com/office/drawing/2016/SVG/main" r:embed="Rbb49b71492964f48"/>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47C7081F-B19B-4AB0-9C2B-081984486CAC}"/>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baf3ee6eda284a20">
              <a:extLst>
                <a:ext uri="{96DAC541-7B7A-43D3-8B79-37D633B846F1}">
                  <asvg:svgBlip xmlns:asvg="http://schemas.microsoft.com/office/drawing/2016/SVG/main" r:embed="R4e9696a3cebe4e33"/>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B47FBB-C557-496D-BD96-35BA11C183CE}"/>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76e29adafb6d4af4">
              <a:extLst>
                <a:ext uri="{96DAC541-7B7A-43D3-8B79-37D633B846F1}">
                  <asvg:svgBlip xmlns:asvg="http://schemas.microsoft.com/office/drawing/2016/SVG/main" r:embed="Rbb49b71492964f48"/>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89378A68-D1D4-4F75-873C-90D276B9A77A}"/>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baf3ee6eda284a20">
              <a:extLst>
                <a:ext uri="{96DAC541-7B7A-43D3-8B79-37D633B846F1}">
                  <asvg:svgBlip xmlns:asvg="http://schemas.microsoft.com/office/drawing/2016/SVG/main" r:embed="R4e9696a3cebe4e33"/>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7B750570-0165-4CC1-B10D-61F2E84BDE09}"/>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76e29adafb6d4af4">
              <a:extLst>
                <a:ext uri="{96DAC541-7B7A-43D3-8B79-37D633B846F1}">
                  <asvg:svgBlip xmlns:asvg="http://schemas.microsoft.com/office/drawing/2016/SVG/main" r:embed="Rbb49b71492964f48"/>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984B4238-63DB-4F10-9AA0-58C1786C0548}"/>
              </a:ext>
            </a:extLst>
          </p:cNvPr>
          <p:cNvSpPr>
            <a:spLocks xmlns:a="http://schemas.openxmlformats.org/drawingml/2006/main" noGrp="1"/>
          </p:cNvSpPr>
          <p:nvPr/>
        </p:nvSpPr>
        <p:spPr>
          <a:xfrm xmlns:a="http://schemas.openxmlformats.org/drawingml/2006/main">
            <a:off x="3381375" y="5143500"/>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Distinctive approach: broad left/right zones narrow phrases through repeated choices.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A standard webcam provides input, with blink/dwell confirmation and button fallback.</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Intended impact: more independent expression of everyday needs. User validation is next.</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Evaluation plan: phrase completion time, selection errors, and calibration success.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Next: multilingual phrases, personalized vocabularies, and caregiver usability trials.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Expansion: evaluate varied devices and lighting before pursuing hospital integrations.</a:t>
            </a:r>
          </a:p>
        </p:txBody>
      </p:sp>
      <p:sp>
        <p:nvSpPr>
          <p:cNvPr id="9" name="TextBox 9">
            <a:extLst xmlns:a="http://schemas.openxmlformats.org/drawingml/2006/main">
              <a:ext uri="{FF2B5EF4-FFF2-40B4-BE49-F238E27FC236}">
                <a16:creationId xmlns:a16="http://schemas.microsoft.com/office/drawing/2014/main" id="{52746DF8-2C86-4C8B-B4FC-F0E2F080B25F}"/>
              </a:ext>
            </a:extLst>
          </p:cNvPr>
          <p:cNvSpPr>
            <a:spLocks xmlns:a="http://schemas.openxmlformats.org/drawingml/2006/main" noGrp="1"/>
          </p:cNvSpPr>
          <p:nvPr/>
        </p:nvSpPr>
        <p:spPr>
          <a:xfrm xmlns:a="http://schemas.openxmlformats.org/drawingml/2006/main">
            <a:off x="3355284" y="2841064"/>
            <a:ext cx="11577432" cy="10382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NOVELTY, IMPACT &amp; SCALABILITY</a:t>
            </a:r>
          </a:p>
        </p:txBody>
      </p:sp>
      <p:sp>
        <p:nvSpPr>
          <p:cNvPr id="10" name="Freeform 10">
            <a:extLst xmlns:a="http://schemas.openxmlformats.org/drawingml/2006/main">
              <a:ext uri="{FF2B5EF4-FFF2-40B4-BE49-F238E27FC236}">
                <a16:creationId xmlns:a16="http://schemas.microsoft.com/office/drawing/2014/main" id="{90CEC6ED-B56E-41BF-B479-8573F99FC045}"/>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0114a02989624251"/>
            <a:stretch>
              <a:fillRect l="-694" t="-655" r="0" b="-655"/>
            </a:stretch>
          </a:blipFill>
        </p:spPr>
      </p:sp>
      <p:sp>
        <p:nvSpPr>
          <p:cNvPr id="11" name="Freeform 11">
            <a:extLst xmlns:a="http://schemas.openxmlformats.org/drawingml/2006/main">
              <a:ext uri="{FF2B5EF4-FFF2-40B4-BE49-F238E27FC236}">
                <a16:creationId xmlns:a16="http://schemas.microsoft.com/office/drawing/2014/main" id="{6D7BDE91-1EAE-4D88-B43F-A1303E488B2F}"/>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3d9f6fb5429f4bbc"/>
            <a:stretch>
              <a:fillRect l="0" t="0" r="0" b="0"/>
            </a:stretch>
          </a:blipFill>
        </p:spPr>
      </p:sp>
      <p:sp>
        <p:nvSpPr>
          <p:cNvPr id="12" name="Freeform 12">
            <a:extLst xmlns:a="http://schemas.openxmlformats.org/drawingml/2006/main">
              <a:ext uri="{FF2B5EF4-FFF2-40B4-BE49-F238E27FC236}">
                <a16:creationId xmlns:a16="http://schemas.microsoft.com/office/drawing/2014/main" id="{97F4767E-A490-432A-9E31-EA633EC8B974}"/>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d9dac5a3ea524a82"/>
            <a:stretch>
              <a:fillRect l="0" t="0" r="0" b="0"/>
            </a:stretch>
          </a:blipFill>
        </p:spPr>
      </p:sp>
    </p:spTree>
    <p:extLst>
      <p:ext uri="{BB962C8B-B14F-4D97-AF65-F5344CB8AC3E}">
        <p14:creationId xmlns:p14="http://schemas.microsoft.com/office/powerpoint/2010/main" val="2374030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2026-09-18T20:52:26.2040000Z</dcterms:created>
  <dcterms:modified xsi:type="dcterms:W3CDTF">2026-09-18T20:52:26.2040000Z</dcterms:modified>
</coreProperties>
</file>